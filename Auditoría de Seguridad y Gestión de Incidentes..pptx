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Source Code Pro"/>
      <p:regular r:id="rId17"/>
      <p:bold r:id="rId18"/>
      <p:italic r:id="rId19"/>
      <p:boldItalic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Italic.fntdata"/><Relationship Id="rId11" Type="http://schemas.openxmlformats.org/officeDocument/2006/relationships/slide" Target="slides/slide6.xml"/><Relationship Id="rId22" Type="http://schemas.openxmlformats.org/officeDocument/2006/relationships/font" Target="fonts/Oswald-bold.fntdata"/><Relationship Id="rId10" Type="http://schemas.openxmlformats.org/officeDocument/2006/relationships/slide" Target="slides/slide5.xml"/><Relationship Id="rId21" Type="http://schemas.openxmlformats.org/officeDocument/2006/relationships/font" Target="fonts/Oswa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SourceCodePr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italic.fntdata"/><Relationship Id="rId6" Type="http://schemas.openxmlformats.org/officeDocument/2006/relationships/slide" Target="slides/slide1.xml"/><Relationship Id="rId18" Type="http://schemas.openxmlformats.org/officeDocument/2006/relationships/font" Target="fonts/SourceCode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95a9b1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95a9b1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8910eae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8910eae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8910eae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8910eae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8910eaee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8910eaee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8910eaee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8910eaee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8910eaee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8910eaee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8910eaee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8910eaee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8910eaee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8910eaee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8910eaee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8910eaee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8910eaee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8910eaee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6000">
                <a:latin typeface="Oswald"/>
                <a:ea typeface="Oswald"/>
                <a:cs typeface="Oswald"/>
                <a:sym typeface="Oswald"/>
              </a:rPr>
              <a:t>Auditoría de Seguridad y Gestión de Incidentes.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s" sz="3600">
                <a:solidFill>
                  <a:srgbClr val="424242"/>
                </a:solidFill>
                <a:latin typeface="Oswald"/>
                <a:ea typeface="Oswald"/>
                <a:cs typeface="Oswald"/>
                <a:sym typeface="Oswald"/>
              </a:rPr>
              <a:t>Informe Ejecutivo: Servidor Web Debian/WordPress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Sin títul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2235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s" sz="3000">
                <a:solidFill>
                  <a:srgbClr val="424242"/>
                </a:solidFill>
                <a:latin typeface="Oswald"/>
                <a:ea typeface="Oswald"/>
                <a:cs typeface="Oswald"/>
                <a:sym typeface="Oswald"/>
              </a:rPr>
              <a:t>Estado de Compromiso Detectado</a:t>
            </a:r>
            <a:endParaRPr sz="3000">
              <a:solidFill>
                <a:srgbClr val="42424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42424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Identificación de una intrusión total en el servidor. Debido a configuraciones de seguridad críticas y contraseñas débiles, el 100% de la infraestructura y los datos estaban expuestos a atacantes externos.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s" sz="3000">
                <a:solidFill>
                  <a:srgbClr val="424242"/>
                </a:solidFill>
                <a:latin typeface="Oswald"/>
                <a:ea typeface="Oswald"/>
                <a:cs typeface="Oswald"/>
                <a:sym typeface="Oswald"/>
              </a:rPr>
              <a:t>Riesgos y Hallazgos Críticos</a:t>
            </a:r>
            <a:endParaRPr sz="3000">
              <a:solidFill>
                <a:srgbClr val="42424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Exposición de Datos: Claves de base de datos en texto plano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Control Total: Acceso de administrador (Root) comprometido.</a:t>
            </a:r>
            <a:endParaRPr sz="13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Control Total: Acceso de administrador (Root) comprometido.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Fuga de Información: Hashes de usuarios web exfiltrados</a:t>
            </a:r>
            <a:endParaRPr sz="21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latin typeface="Oswald"/>
                <a:ea typeface="Oswald"/>
                <a:cs typeface="Oswald"/>
                <a:sym typeface="Oswald"/>
              </a:rPr>
              <a:t>COMPROMISO TOTAL DEL SISTEMA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164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s" sz="2400">
                <a:solidFill>
                  <a:srgbClr val="424242"/>
                </a:solidFill>
                <a:latin typeface="Oswald"/>
                <a:ea typeface="Oswald"/>
                <a:cs typeface="Oswald"/>
                <a:sym typeface="Oswald"/>
              </a:rPr>
              <a:t>Análisis de la Brecha de Seguridad</a:t>
            </a:r>
            <a:endParaRPr sz="2400">
              <a:solidFill>
                <a:srgbClr val="42424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11700" y="780850"/>
            <a:ext cx="3541800" cy="42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rgbClr val="424242"/>
                </a:solidFill>
              </a:rPr>
              <a:t>Detección de Superficie:</a:t>
            </a:r>
            <a:r>
              <a:rPr lang="es" sz="1100">
                <a:solidFill>
                  <a:srgbClr val="424242"/>
                </a:solidFill>
              </a:rPr>
              <a:t> Identificación de servicios críticos expuestos (FTP, SSH y Web).</a:t>
            </a:r>
            <a:endParaRPr sz="1100">
              <a:solidFill>
                <a:srgbClr val="42424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rgbClr val="424242"/>
                </a:solidFill>
              </a:rPr>
              <a:t>Acceso Remoto No Autorizado:</a:t>
            </a:r>
            <a:r>
              <a:rPr lang="es" sz="1100">
                <a:solidFill>
                  <a:srgbClr val="424242"/>
                </a:solidFill>
              </a:rPr>
              <a:t> Validación de entrada al sistema mediante protocolos de administración remota.</a:t>
            </a:r>
            <a:endParaRPr sz="1100">
              <a:solidFill>
                <a:srgbClr val="42424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rgbClr val="424242"/>
                </a:solidFill>
              </a:rPr>
              <a:t>Auditoría Externa:</a:t>
            </a:r>
            <a:r>
              <a:rPr lang="es" sz="1100">
                <a:solidFill>
                  <a:srgbClr val="424242"/>
                </a:solidFill>
              </a:rPr>
              <a:t> Uso de herramientas profesionales para localizar vulnerabilidades en la plataforma WordPress.</a:t>
            </a:r>
            <a:endParaRPr sz="1100">
              <a:solidFill>
                <a:srgbClr val="42424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100">
                <a:solidFill>
                  <a:srgbClr val="424242"/>
                </a:solidFill>
              </a:rPr>
              <a:t>Fuga de Información:</a:t>
            </a:r>
            <a:r>
              <a:rPr lang="es" sz="1100">
                <a:solidFill>
                  <a:srgbClr val="424242"/>
                </a:solidFill>
              </a:rPr>
              <a:t> Confirmación de exposición de datos técnicos del servidor (versiones de software y Kernel).</a:t>
            </a:r>
            <a:endParaRPr sz="1100">
              <a:solidFill>
                <a:srgbClr val="42424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s" sz="1100">
                <a:solidFill>
                  <a:srgbClr val="424242"/>
                </a:solidFill>
              </a:rPr>
              <a:t>Riesgo Activo:</a:t>
            </a:r>
            <a:r>
              <a:rPr lang="es" sz="1100">
                <a:solidFill>
                  <a:srgbClr val="424242"/>
                </a:solidFill>
              </a:rPr>
              <a:t> Capacidad de ejecución de comandos en el servidor desde máquinas externas.</a:t>
            </a: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500" y="1095700"/>
            <a:ext cx="5250424" cy="28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b="1" lang="es" sz="2100">
                <a:solidFill>
                  <a:srgbClr val="22242A"/>
                </a:solidFill>
              </a:rPr>
              <a:t> Principales Debilidades Explotadas</a:t>
            </a:r>
            <a:endParaRPr b="1" sz="2100">
              <a:solidFill>
                <a:srgbClr val="2224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269275" y="899700"/>
            <a:ext cx="4144200" cy="41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Bloque 1 (Imagen 2 del FTP - pág. 4 del informe PDF):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Accesos Inseguros.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El servidor FTP permitía el acceso anónimo, exponiendo historiales de comandos y rutas críticas del sistema.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7975"/>
            <a:ext cx="4480000" cy="480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Gestión de Identidades.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527775"/>
            <a:ext cx="4065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Reutilización de contraseñas extremadamente débiles (123456) en servicios de administración y bases de datos.</a:t>
            </a:r>
            <a:endParaRPr/>
          </a:p>
        </p:txBody>
      </p:sp>
      <p:sp>
        <p:nvSpPr>
          <p:cNvPr id="98" name="Google Shape;98;p20"/>
          <p:cNvSpPr txBox="1"/>
          <p:nvPr/>
        </p:nvSpPr>
        <p:spPr>
          <a:xfrm>
            <a:off x="311700" y="950625"/>
            <a:ext cx="40656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Bloque 2 (Imagen 2 del wp-config "123456" - pág. 8 del informe del PDF)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850" y="75225"/>
            <a:ext cx="4646802" cy="497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Privilegios Excesivos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2045525"/>
            <a:ext cx="3711300" cy="29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Configuración de permisos de usuario sin restricciones, permitiendo a un atacante tomar el control total del servidor (Root) de forma inmediata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311700" y="1017725"/>
            <a:ext cx="38280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Bloque 3 (Imagen 2 del sudo -l - pág. 7 del informe del PDF)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9950" y="219500"/>
            <a:ext cx="4472791" cy="480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820"/>
              <a:t>Plan de Recuperación y Saneamiento</a:t>
            </a:r>
            <a:endParaRPr sz="1820"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2037025"/>
            <a:ext cx="3736800" cy="29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s" sz="1330"/>
              <a:t>Resumen de acciones: Bloqueo de usuarios, cambio de contraseñas, permisos 600 y actualización del sistema</a:t>
            </a:r>
            <a:endParaRPr sz="1330"/>
          </a:p>
        </p:txBody>
      </p:sp>
      <p:sp>
        <p:nvSpPr>
          <p:cNvPr id="114" name="Google Shape;114;p22"/>
          <p:cNvSpPr txBox="1"/>
          <p:nvPr/>
        </p:nvSpPr>
        <p:spPr>
          <a:xfrm>
            <a:off x="271600" y="831800"/>
            <a:ext cx="3581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(Imagen 1 de la pagina 19 del informe del PDF)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8225" y="92200"/>
            <a:ext cx="4303701" cy="462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72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Resultado y Estado Final</a:t>
            </a:r>
            <a:endParaRPr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9525" y="72350"/>
            <a:ext cx="4652726" cy="49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3"/>
          <p:cNvSpPr txBox="1"/>
          <p:nvPr/>
        </p:nvSpPr>
        <p:spPr>
          <a:xfrm>
            <a:off x="178250" y="755400"/>
            <a:ext cx="3785400" cy="42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Éxito en la securización.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Sistema 100% parcheado, permisos de archivos críticos corregidos y control administrativo recuperado.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